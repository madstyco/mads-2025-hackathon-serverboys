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3" r:id="rId6"/>
    <p:sldId id="259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F1C2DA-4C73-4EFF-BCF7-FA262260A70C}" v="17" dt="2025-12-01T17:02:53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11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546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2953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839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7981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0851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61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9692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06388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177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2870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7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2464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828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7154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7324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386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1580634-7571-4E57-9A14-2E9F9EBBFCBE}" type="datetimeFigureOut">
              <a:rPr lang="nl-NL" smtClean="0"/>
              <a:t>3-12-2025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4EBFA8B-4C97-4859-B578-B1ACB10A7E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12373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F0C2-1259-AECA-B0CA-EEEF416D8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Surferboys Hackathon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F8B95-5212-AE26-3353-4BBB26E92E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Kadaster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91333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B0B2E-A2D6-976F-416E-E1E83071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r"/>
            <a:r>
              <a:rPr lang="nl-NL" dirty="0" err="1"/>
              <a:t>Regex</a:t>
            </a:r>
            <a:r>
              <a:rPr lang="nl-NL" dirty="0"/>
              <a:t>-analyse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DF13E-1265-2BAA-E431-59BBAFE0B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9"/>
            <a:ext cx="6288260" cy="4892040"/>
          </a:xfrm>
        </p:spPr>
        <p:txBody>
          <a:bodyPr>
            <a:normAutofit/>
          </a:bodyPr>
          <a:lstStyle/>
          <a:p>
            <a:r>
              <a:rPr lang="nl-NL" dirty="0" err="1">
                <a:solidFill>
                  <a:schemeClr val="tx1"/>
                </a:solidFill>
              </a:rPr>
              <a:t>Addition</a:t>
            </a:r>
            <a:r>
              <a:rPr lang="nl-NL" dirty="0">
                <a:solidFill>
                  <a:schemeClr val="tx1"/>
                </a:solidFill>
              </a:rPr>
              <a:t> of </a:t>
            </a:r>
            <a:r>
              <a:rPr lang="nl-NL" dirty="0" err="1">
                <a:solidFill>
                  <a:schemeClr val="tx1"/>
                </a:solidFill>
              </a:rPr>
              <a:t>synonyms</a:t>
            </a:r>
            <a:r>
              <a:rPr lang="nl-NL" dirty="0">
                <a:solidFill>
                  <a:schemeClr val="tx1"/>
                </a:solidFill>
              </a:rPr>
              <a:t> </a:t>
            </a:r>
          </a:p>
          <a:p>
            <a:r>
              <a:rPr lang="nl-NL" dirty="0" err="1">
                <a:solidFill>
                  <a:schemeClr val="tx1"/>
                </a:solidFill>
              </a:rPr>
              <a:t>Improvements</a:t>
            </a:r>
            <a:r>
              <a:rPr lang="nl-NL" dirty="0">
                <a:solidFill>
                  <a:schemeClr val="tx1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82454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56FCDAA-76C3-414B-9868-73075E15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B36E6-EEA9-006C-0E8D-9FFCF2140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860" y="4487332"/>
            <a:ext cx="5627258" cy="1507067"/>
          </a:xfrm>
        </p:spPr>
        <p:txBody>
          <a:bodyPr>
            <a:normAutofit/>
          </a:bodyPr>
          <a:lstStyle/>
          <a:p>
            <a:r>
              <a:rPr lang="nl-NL"/>
              <a:t>Textvectorizer</a:t>
            </a:r>
          </a:p>
        </p:txBody>
      </p:sp>
      <p:sp>
        <p:nvSpPr>
          <p:cNvPr id="39" name="Snip Diagonal Corner Rectangle 16">
            <a:extLst>
              <a:ext uri="{FF2B5EF4-FFF2-40B4-BE49-F238E27FC236}">
                <a16:creationId xmlns:a16="http://schemas.microsoft.com/office/drawing/2014/main" id="{02C8A649-1D4D-44CF-8C8E-C38947F4C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1" y="620722"/>
            <a:ext cx="3670674" cy="5286838"/>
          </a:xfrm>
          <a:prstGeom prst="snip2DiagRect">
            <a:avLst>
              <a:gd name="adj1" fmla="val 11518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F3C36-1726-2A2C-F956-13140463F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93" y="950440"/>
            <a:ext cx="3891046" cy="23346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643AAD-1644-27CA-04BF-B708F7481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3" y="3419739"/>
            <a:ext cx="3866462" cy="227154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1F7C4-9F74-C857-A6C3-D79AE70FB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1860" y="685800"/>
            <a:ext cx="6253792" cy="3615267"/>
          </a:xfrm>
        </p:spPr>
        <p:txBody>
          <a:bodyPr>
            <a:normAutofit/>
          </a:bodyPr>
          <a:lstStyle/>
          <a:p>
            <a:r>
              <a:rPr lang="nl-NL" dirty="0" err="1"/>
              <a:t>Started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tinybert</a:t>
            </a:r>
            <a:endParaRPr lang="nl-NL" dirty="0"/>
          </a:p>
          <a:p>
            <a:r>
              <a:rPr lang="nl-NL" dirty="0"/>
              <a:t>We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Nebius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parallel </a:t>
            </a:r>
            <a:r>
              <a:rPr lang="nl-NL" dirty="0" err="1"/>
              <a:t>api</a:t>
            </a:r>
            <a:r>
              <a:rPr lang="nl-NL" dirty="0"/>
              <a:t> calls </a:t>
            </a:r>
            <a:r>
              <a:rPr lang="nl-NL" dirty="0" err="1"/>
              <a:t>to</a:t>
            </a:r>
            <a:r>
              <a:rPr lang="nl-NL" dirty="0"/>
              <a:t> train </a:t>
            </a:r>
            <a:r>
              <a:rPr lang="nl-NL" dirty="0" err="1"/>
              <a:t>bge</a:t>
            </a:r>
            <a:r>
              <a:rPr lang="nl-NL" dirty="0"/>
              <a:t> </a:t>
            </a:r>
            <a:r>
              <a:rPr lang="nl-NL" dirty="0" err="1"/>
              <a:t>multilingual</a:t>
            </a:r>
            <a:r>
              <a:rPr lang="nl-NL" dirty="0"/>
              <a:t> </a:t>
            </a:r>
            <a:r>
              <a:rPr lang="nl-NL" dirty="0" err="1"/>
              <a:t>gemma</a:t>
            </a:r>
            <a:r>
              <a:rPr lang="nl-NL" dirty="0"/>
              <a:t> 2 model</a:t>
            </a:r>
          </a:p>
          <a:p>
            <a:r>
              <a:rPr lang="nl-NL" dirty="0" err="1">
                <a:solidFill>
                  <a:srgbClr val="0F496F"/>
                </a:solidFill>
              </a:rPr>
              <a:t>NebiusTextVectorizer</a:t>
            </a:r>
            <a:r>
              <a:rPr lang="nl-NL" dirty="0">
                <a:solidFill>
                  <a:srgbClr val="0F496F"/>
                </a:solidFill>
              </a:rPr>
              <a:t> Cloud </a:t>
            </a:r>
            <a:r>
              <a:rPr lang="nl-NL" dirty="0" err="1">
                <a:solidFill>
                  <a:srgbClr val="0F496F"/>
                </a:solidFill>
              </a:rPr>
              <a:t>based</a:t>
            </a:r>
            <a:r>
              <a:rPr lang="nl-NL" dirty="0">
                <a:solidFill>
                  <a:srgbClr val="0F496F"/>
                </a:solidFill>
              </a:rPr>
              <a:t> </a:t>
            </a:r>
            <a:r>
              <a:rPr lang="nl-NL" dirty="0" err="1">
                <a:solidFill>
                  <a:srgbClr val="0F496F"/>
                </a:solidFill>
              </a:rPr>
              <a:t>embeddings</a:t>
            </a:r>
            <a:r>
              <a:rPr lang="nl-NL" dirty="0">
                <a:solidFill>
                  <a:srgbClr val="0F496F"/>
                </a:solidFill>
              </a:rPr>
              <a:t> via API (</a:t>
            </a:r>
            <a:r>
              <a:rPr lang="nl-NL" dirty="0" err="1">
                <a:solidFill>
                  <a:srgbClr val="0F496F"/>
                </a:solidFill>
              </a:rPr>
              <a:t>Nebius</a:t>
            </a:r>
            <a:r>
              <a:rPr lang="nl-NL" dirty="0">
                <a:solidFill>
                  <a:srgbClr val="0F496F"/>
                </a:solidFill>
              </a:rPr>
              <a:t>)</a:t>
            </a:r>
          </a:p>
          <a:p>
            <a:r>
              <a:rPr lang="nl-NL" dirty="0">
                <a:solidFill>
                  <a:srgbClr val="0F496F"/>
                </a:solidFill>
              </a:rPr>
              <a:t>Concurrent API Calls </a:t>
            </a:r>
            <a:r>
              <a:rPr lang="nl-NL" dirty="0" err="1">
                <a:solidFill>
                  <a:srgbClr val="0F496F"/>
                </a:solidFill>
              </a:rPr>
              <a:t>with</a:t>
            </a:r>
            <a:r>
              <a:rPr lang="nl-NL" dirty="0">
                <a:solidFill>
                  <a:srgbClr val="0F496F"/>
                </a:solidFill>
              </a:rPr>
              <a:t> threadpool (4 </a:t>
            </a:r>
            <a:r>
              <a:rPr lang="nl-NL" dirty="0" err="1">
                <a:solidFill>
                  <a:srgbClr val="0F496F"/>
                </a:solidFill>
              </a:rPr>
              <a:t>workers</a:t>
            </a:r>
            <a:r>
              <a:rPr lang="nl-NL" dirty="0">
                <a:solidFill>
                  <a:srgbClr val="0F496F"/>
                </a:solidFill>
              </a:rPr>
              <a:t>)</a:t>
            </a:r>
            <a:endParaRPr lang="nl-NL" dirty="0"/>
          </a:p>
          <a:p>
            <a:r>
              <a:rPr lang="nl-NL" dirty="0" err="1"/>
              <a:t>After</a:t>
            </a:r>
            <a:r>
              <a:rPr lang="nl-NL" dirty="0"/>
              <a:t> training </a:t>
            </a:r>
            <a:r>
              <a:rPr lang="nl-NL" dirty="0" err="1"/>
              <a:t>this</a:t>
            </a:r>
            <a:r>
              <a:rPr lang="nl-NL" dirty="0"/>
              <a:t> way we </a:t>
            </a:r>
            <a:r>
              <a:rPr lang="nl-NL" dirty="0" err="1"/>
              <a:t>ended</a:t>
            </a:r>
            <a:r>
              <a:rPr lang="nl-NL" dirty="0"/>
              <a:t> up </a:t>
            </a:r>
            <a:r>
              <a:rPr lang="nl-NL" dirty="0" err="1"/>
              <a:t>with</a:t>
            </a:r>
            <a:r>
              <a:rPr lang="nl-NL" dirty="0"/>
              <a:t> 86% micro f1 score</a:t>
            </a:r>
          </a:p>
          <a:p>
            <a:pPr marL="0" indent="0">
              <a:buNone/>
            </a:pPr>
            <a:endParaRPr lang="nl-NL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C5301E-91B2-4536-893D-47EA27444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83E5BFD-97A3-4CE9-8A0E-58925ADC2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D47D4CB-D05F-43B7-8F49-A8C05F1529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5A6C8F7-8B78-4F06-BB3B-CEDC620AE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34E8F06-BC4C-45A5-8A7F-CDF897B9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288604C-C490-4533-AA80-11F92325C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359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EE751-F090-5A5B-B0C3-5018DD782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24D9F5B-C72B-41EE-97C2-D3600B627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AA087-C2BC-7C0E-3827-1B3FF17E6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114" y="4487332"/>
            <a:ext cx="4205003" cy="1507067"/>
          </a:xfrm>
        </p:spPr>
        <p:txBody>
          <a:bodyPr>
            <a:normAutofit/>
          </a:bodyPr>
          <a:lstStyle/>
          <a:p>
            <a:r>
              <a:rPr lang="nl-NL" sz="3200">
                <a:solidFill>
                  <a:srgbClr val="FFFFFF"/>
                </a:solidFill>
              </a:rPr>
              <a:t>Hybridstep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D143E-34EC-30FE-5613-BA3C07739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1" y="1950442"/>
            <a:ext cx="4887466" cy="2736981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1E128-8FA6-F693-FBCA-605D46BAB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8" y="685800"/>
            <a:ext cx="4819653" cy="3615267"/>
          </a:xfrm>
        </p:spPr>
        <p:txBody>
          <a:bodyPr>
            <a:normAutofit/>
          </a:bodyPr>
          <a:lstStyle/>
          <a:p>
            <a:r>
              <a:rPr lang="nl-NL" sz="1800" dirty="0">
                <a:solidFill>
                  <a:srgbClr val="0F496F"/>
                </a:solidFill>
              </a:rPr>
              <a:t>We </a:t>
            </a:r>
            <a:r>
              <a:rPr lang="nl-NL" sz="1800" dirty="0" err="1">
                <a:solidFill>
                  <a:srgbClr val="0F496F"/>
                </a:solidFill>
              </a:rPr>
              <a:t>combined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the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regex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and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gbe</a:t>
            </a:r>
            <a:r>
              <a:rPr lang="nl-NL" sz="1800" dirty="0">
                <a:solidFill>
                  <a:srgbClr val="0F496F"/>
                </a:solidFill>
              </a:rPr>
              <a:t> model</a:t>
            </a:r>
          </a:p>
          <a:p>
            <a:r>
              <a:rPr lang="nl-NL" sz="1800" dirty="0" err="1">
                <a:solidFill>
                  <a:srgbClr val="0F496F"/>
                </a:solidFill>
              </a:rPr>
              <a:t>After</a:t>
            </a:r>
            <a:r>
              <a:rPr lang="nl-NL" sz="1800" dirty="0">
                <a:solidFill>
                  <a:srgbClr val="0F496F"/>
                </a:solidFill>
              </a:rPr>
              <a:t> training </a:t>
            </a:r>
            <a:r>
              <a:rPr lang="nl-NL" sz="1800" dirty="0" err="1">
                <a:solidFill>
                  <a:srgbClr val="0F496F"/>
                </a:solidFill>
              </a:rPr>
              <a:t>this</a:t>
            </a:r>
            <a:r>
              <a:rPr lang="nl-NL" sz="1800" dirty="0">
                <a:solidFill>
                  <a:srgbClr val="0F496F"/>
                </a:solidFill>
              </a:rPr>
              <a:t> way we </a:t>
            </a:r>
            <a:r>
              <a:rPr lang="nl-NL" sz="1800" dirty="0" err="1">
                <a:solidFill>
                  <a:srgbClr val="0F496F"/>
                </a:solidFill>
              </a:rPr>
              <a:t>ended</a:t>
            </a:r>
            <a:r>
              <a:rPr lang="nl-NL" sz="1800" dirty="0">
                <a:solidFill>
                  <a:srgbClr val="0F496F"/>
                </a:solidFill>
              </a:rPr>
              <a:t> up </a:t>
            </a:r>
            <a:r>
              <a:rPr lang="nl-NL" sz="1800" dirty="0" err="1">
                <a:solidFill>
                  <a:srgbClr val="0F496F"/>
                </a:solidFill>
              </a:rPr>
              <a:t>with</a:t>
            </a:r>
            <a:r>
              <a:rPr lang="nl-NL" sz="1800" dirty="0">
                <a:solidFill>
                  <a:srgbClr val="0F496F"/>
                </a:solidFill>
              </a:rPr>
              <a:t> 89% f1 micro score</a:t>
            </a:r>
          </a:p>
          <a:p>
            <a:r>
              <a:rPr lang="nl-NL" sz="1800" dirty="0" err="1">
                <a:solidFill>
                  <a:srgbClr val="0F496F"/>
                </a:solidFill>
              </a:rPr>
              <a:t>Extracts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keywords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with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regex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through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regexgenerator</a:t>
            </a:r>
            <a:endParaRPr lang="nl-NL" sz="1800" dirty="0">
              <a:solidFill>
                <a:srgbClr val="0F496F"/>
              </a:solidFill>
            </a:endParaRPr>
          </a:p>
          <a:p>
            <a:r>
              <a:rPr lang="nl-NL" sz="1800" dirty="0" err="1">
                <a:solidFill>
                  <a:srgbClr val="0F496F"/>
                </a:solidFill>
              </a:rPr>
              <a:t>Regexvectorizer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for</a:t>
            </a:r>
            <a:r>
              <a:rPr lang="nl-NL" sz="1800" dirty="0">
                <a:solidFill>
                  <a:srgbClr val="0F496F"/>
                </a:solidFill>
              </a:rPr>
              <a:t> feature </a:t>
            </a:r>
            <a:r>
              <a:rPr lang="nl-NL" sz="1800" dirty="0" err="1">
                <a:solidFill>
                  <a:srgbClr val="0F496F"/>
                </a:solidFill>
              </a:rPr>
              <a:t>vectors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so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the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hybrid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uses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both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signals</a:t>
            </a:r>
            <a:r>
              <a:rPr lang="nl-NL" sz="1800" dirty="0">
                <a:solidFill>
                  <a:srgbClr val="0F496F"/>
                </a:solidFill>
              </a:rPr>
              <a:t> / </a:t>
            </a:r>
            <a:r>
              <a:rPr lang="nl-NL" sz="1800" dirty="0" err="1">
                <a:solidFill>
                  <a:srgbClr val="0F496F"/>
                </a:solidFill>
              </a:rPr>
              <a:t>results</a:t>
            </a:r>
            <a:endParaRPr lang="nl-NL" sz="1800" dirty="0">
              <a:solidFill>
                <a:srgbClr val="0F496F"/>
              </a:solidFill>
            </a:endParaRPr>
          </a:p>
          <a:p>
            <a:pPr marL="0" indent="0">
              <a:buNone/>
            </a:pPr>
            <a:endParaRPr lang="nl-NL" sz="1800" dirty="0">
              <a:solidFill>
                <a:srgbClr val="0F496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80A64C-1862-4B1B-8953-FA96DEE4C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2859A51-B3CA-4126-956F-D0DCCBA21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ECA05ED-FBC3-48F4-8E6D-AB89EC6081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EE24CC5-F080-45A3-B2B4-59A7BCA5A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3EC6EC2-2351-427C-90C2-F10791573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24D87A-9540-4F77-B006-823176623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9050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7D47F-5D64-3F77-D3C6-72F134B0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CCFE137-1CC5-9CF1-04E8-0B0EE56CB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ABF99-27FB-8289-120F-7FBDEF96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114" y="4487332"/>
            <a:ext cx="4205003" cy="1507067"/>
          </a:xfrm>
        </p:spPr>
        <p:txBody>
          <a:bodyPr>
            <a:normAutofit/>
          </a:bodyPr>
          <a:lstStyle/>
          <a:p>
            <a:r>
              <a:rPr lang="nl-NL" sz="3200" dirty="0" err="1">
                <a:solidFill>
                  <a:srgbClr val="FFFFFF"/>
                </a:solidFill>
              </a:rPr>
              <a:t>Neural</a:t>
            </a:r>
            <a:r>
              <a:rPr lang="nl-NL" sz="3200" dirty="0">
                <a:solidFill>
                  <a:srgbClr val="FFFFFF"/>
                </a:solidFill>
              </a:rPr>
              <a:t> model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5AED5-18C8-05E7-059A-6E5702ED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8" y="685800"/>
            <a:ext cx="4819653" cy="3615267"/>
          </a:xfrm>
        </p:spPr>
        <p:txBody>
          <a:bodyPr>
            <a:normAutofit/>
          </a:bodyPr>
          <a:lstStyle/>
          <a:p>
            <a:r>
              <a:rPr lang="nl-NL" sz="1800" dirty="0" err="1">
                <a:solidFill>
                  <a:srgbClr val="0F496F"/>
                </a:solidFill>
              </a:rPr>
              <a:t>NebiusTextVectorizer</a:t>
            </a:r>
            <a:r>
              <a:rPr lang="nl-NL" sz="1800" dirty="0">
                <a:solidFill>
                  <a:srgbClr val="0F496F"/>
                </a:solidFill>
              </a:rPr>
              <a:t> Cloud </a:t>
            </a:r>
            <a:r>
              <a:rPr lang="nl-NL" sz="1800" dirty="0" err="1">
                <a:solidFill>
                  <a:srgbClr val="0F496F"/>
                </a:solidFill>
              </a:rPr>
              <a:t>based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embeddings</a:t>
            </a:r>
            <a:r>
              <a:rPr lang="nl-NL" sz="1800" dirty="0">
                <a:solidFill>
                  <a:srgbClr val="0F496F"/>
                </a:solidFill>
              </a:rPr>
              <a:t> via API (</a:t>
            </a:r>
            <a:r>
              <a:rPr lang="nl-NL" sz="1800" dirty="0" err="1">
                <a:solidFill>
                  <a:srgbClr val="0F496F"/>
                </a:solidFill>
              </a:rPr>
              <a:t>Nebius</a:t>
            </a:r>
            <a:r>
              <a:rPr lang="nl-NL" sz="1800" dirty="0">
                <a:solidFill>
                  <a:srgbClr val="0F496F"/>
                </a:solidFill>
              </a:rPr>
              <a:t>)</a:t>
            </a:r>
          </a:p>
          <a:p>
            <a:r>
              <a:rPr lang="nl-NL" sz="1800" dirty="0">
                <a:solidFill>
                  <a:srgbClr val="0F496F"/>
                </a:solidFill>
              </a:rPr>
              <a:t>Concurrent API Calls </a:t>
            </a:r>
            <a:r>
              <a:rPr lang="nl-NL" sz="1800" dirty="0" err="1">
                <a:solidFill>
                  <a:srgbClr val="0F496F"/>
                </a:solidFill>
              </a:rPr>
              <a:t>with</a:t>
            </a:r>
            <a:r>
              <a:rPr lang="nl-NL" sz="1800" dirty="0">
                <a:solidFill>
                  <a:srgbClr val="0F496F"/>
                </a:solidFill>
              </a:rPr>
              <a:t> threadpool (4 </a:t>
            </a:r>
            <a:r>
              <a:rPr lang="nl-NL" sz="1800" dirty="0" err="1">
                <a:solidFill>
                  <a:srgbClr val="0F496F"/>
                </a:solidFill>
              </a:rPr>
              <a:t>workers</a:t>
            </a:r>
            <a:r>
              <a:rPr lang="nl-NL" sz="1800" dirty="0">
                <a:solidFill>
                  <a:srgbClr val="0F496F"/>
                </a:solidFill>
              </a:rPr>
              <a:t>)</a:t>
            </a:r>
          </a:p>
          <a:p>
            <a:r>
              <a:rPr lang="nl-NL" sz="1800">
                <a:solidFill>
                  <a:srgbClr val="0F496F"/>
                </a:solidFill>
              </a:rPr>
              <a:t>We </a:t>
            </a:r>
            <a:r>
              <a:rPr lang="nl-NL" sz="1800" dirty="0" err="1">
                <a:solidFill>
                  <a:srgbClr val="0F496F"/>
                </a:solidFill>
              </a:rPr>
              <a:t>used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Linear</a:t>
            </a:r>
            <a:r>
              <a:rPr lang="nl-NL" sz="1800" dirty="0">
                <a:solidFill>
                  <a:srgbClr val="0F496F"/>
                </a:solidFill>
              </a:rPr>
              <a:t> – BN – </a:t>
            </a:r>
            <a:r>
              <a:rPr lang="nl-NL" sz="1800" dirty="0" err="1">
                <a:solidFill>
                  <a:srgbClr val="0F496F"/>
                </a:solidFill>
              </a:rPr>
              <a:t>Relu</a:t>
            </a:r>
            <a:r>
              <a:rPr lang="nl-NL" sz="1800" dirty="0">
                <a:solidFill>
                  <a:srgbClr val="0F496F"/>
                </a:solidFill>
              </a:rPr>
              <a:t> – drop – Gate – fusion1-bn-relu-skip</a:t>
            </a:r>
            <a:br>
              <a:rPr lang="nl-NL" sz="1800" dirty="0">
                <a:solidFill>
                  <a:srgbClr val="0F496F"/>
                </a:solidFill>
              </a:rPr>
            </a:br>
            <a:r>
              <a:rPr lang="nl-NL" sz="1800" dirty="0">
                <a:solidFill>
                  <a:srgbClr val="0F496F"/>
                </a:solidFill>
              </a:rPr>
              <a:t>(Tekst </a:t>
            </a:r>
            <a:r>
              <a:rPr lang="nl-NL" sz="1800" dirty="0" err="1">
                <a:solidFill>
                  <a:srgbClr val="0F496F"/>
                </a:solidFill>
              </a:rPr>
              <a:t>and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regex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processed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indepently</a:t>
            </a:r>
            <a:r>
              <a:rPr lang="nl-NL" sz="1800" dirty="0">
                <a:solidFill>
                  <a:srgbClr val="0F496F"/>
                </a:solidFill>
              </a:rPr>
              <a:t>, </a:t>
            </a:r>
            <a:r>
              <a:rPr lang="nl-NL" sz="1800" dirty="0" err="1">
                <a:solidFill>
                  <a:srgbClr val="0F496F"/>
                </a:solidFill>
              </a:rPr>
              <a:t>gating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learn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to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weight</a:t>
            </a:r>
            <a:r>
              <a:rPr lang="nl-NL" sz="1800" dirty="0">
                <a:solidFill>
                  <a:srgbClr val="0F496F"/>
                </a:solidFill>
              </a:rPr>
              <a:t> tekst, skip </a:t>
            </a:r>
            <a:r>
              <a:rPr lang="nl-NL" sz="1800" dirty="0" err="1">
                <a:solidFill>
                  <a:srgbClr val="0F496F"/>
                </a:solidFill>
              </a:rPr>
              <a:t>connections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for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gradients</a:t>
            </a:r>
            <a:r>
              <a:rPr lang="nl-NL" sz="1800" dirty="0">
                <a:solidFill>
                  <a:srgbClr val="0F496F"/>
                </a:solidFill>
              </a:rPr>
              <a:t>, batch </a:t>
            </a:r>
            <a:r>
              <a:rPr lang="nl-NL" sz="1800" dirty="0" err="1">
                <a:solidFill>
                  <a:srgbClr val="0F496F"/>
                </a:solidFill>
              </a:rPr>
              <a:t>normailzaiton</a:t>
            </a:r>
            <a:r>
              <a:rPr lang="nl-NL" sz="1800" dirty="0">
                <a:solidFill>
                  <a:srgbClr val="0F496F"/>
                </a:solidFill>
              </a:rPr>
              <a:t>, </a:t>
            </a:r>
            <a:r>
              <a:rPr lang="nl-NL" sz="1800" dirty="0" err="1">
                <a:solidFill>
                  <a:srgbClr val="0F496F"/>
                </a:solidFill>
              </a:rPr>
              <a:t>Fusion</a:t>
            </a:r>
            <a:r>
              <a:rPr lang="nl-NL" sz="1800" dirty="0">
                <a:solidFill>
                  <a:srgbClr val="0F496F"/>
                </a:solidFill>
              </a:rPr>
              <a:t> </a:t>
            </a:r>
            <a:r>
              <a:rPr lang="nl-NL" sz="1800" dirty="0" err="1">
                <a:solidFill>
                  <a:srgbClr val="0F496F"/>
                </a:solidFill>
              </a:rPr>
              <a:t>layers</a:t>
            </a:r>
            <a:r>
              <a:rPr lang="nl-NL" sz="1800" dirty="0">
                <a:solidFill>
                  <a:srgbClr val="0F496F"/>
                </a:solidFill>
              </a:rPr>
              <a:t>?</a:t>
            </a:r>
          </a:p>
          <a:p>
            <a:pPr marL="0" indent="0">
              <a:buNone/>
            </a:pPr>
            <a:endParaRPr lang="nl-NL" sz="1800" dirty="0">
              <a:solidFill>
                <a:srgbClr val="0F496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0E8DD76-1063-0453-46D6-E6DC25136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698927A-8262-D53B-346C-D2C5AA94F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23A4298-6136-D7D3-2B29-3DBF946717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D338A1-FF7E-2043-D0A6-29CFDC291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5FF84F4-956A-BB26-8F4E-842677549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04DDCBE-0AE6-1DDA-2076-915D37B9A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5718C45-431C-296B-99FF-DD0E7303C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43" y="512763"/>
            <a:ext cx="5072094" cy="523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86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66CA-7864-6162-F8E0-E1F1B6FC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nl-NL" dirty="0"/>
              <a:t>Large </a:t>
            </a:r>
            <a:r>
              <a:rPr lang="nl-NL" dirty="0" err="1"/>
              <a:t>language</a:t>
            </a:r>
            <a:r>
              <a:rPr lang="nl-NL" dirty="0"/>
              <a:t>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A7A5C9-F783-BE79-5951-58DA5CC5C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39" y="963316"/>
            <a:ext cx="5304759" cy="3116545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85B2D-5388-E2DB-73E9-F63305664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654" y="733647"/>
            <a:ext cx="4419171" cy="35758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l-NL" sz="1500" dirty="0"/>
              <a:t>Default model: Meta </a:t>
            </a:r>
            <a:r>
              <a:rPr lang="nl-NL" sz="1500" dirty="0" err="1"/>
              <a:t>Llama</a:t>
            </a:r>
            <a:r>
              <a:rPr lang="nl-NL" sz="1500" dirty="0"/>
              <a:t> 8B (F1- score)</a:t>
            </a:r>
          </a:p>
          <a:p>
            <a:pPr lvl="1">
              <a:lnSpc>
                <a:spcPct val="90000"/>
              </a:lnSpc>
            </a:pPr>
            <a:r>
              <a:rPr lang="nl-NL" sz="1500" dirty="0"/>
              <a:t>Start: 9%</a:t>
            </a:r>
          </a:p>
          <a:p>
            <a:pPr lvl="1">
              <a:lnSpc>
                <a:spcPct val="90000"/>
              </a:lnSpc>
            </a:pPr>
            <a:r>
              <a:rPr lang="nl-NL" sz="1500" dirty="0"/>
              <a:t>Focus on context: 21%</a:t>
            </a:r>
          </a:p>
          <a:p>
            <a:pPr lvl="2">
              <a:lnSpc>
                <a:spcPct val="90000"/>
              </a:lnSpc>
            </a:pPr>
            <a:r>
              <a:rPr lang="nl-NL" sz="1500" dirty="0" err="1"/>
              <a:t>Exclude</a:t>
            </a:r>
            <a:r>
              <a:rPr lang="nl-NL" sz="1500" dirty="0"/>
              <a:t> </a:t>
            </a:r>
            <a:r>
              <a:rPr lang="nl-NL" sz="1500" dirty="0" err="1"/>
              <a:t>misleading</a:t>
            </a:r>
            <a:r>
              <a:rPr lang="nl-NL" sz="1500" dirty="0"/>
              <a:t> </a:t>
            </a:r>
            <a:r>
              <a:rPr lang="nl-NL" sz="1500" dirty="0" err="1"/>
              <a:t>text</a:t>
            </a:r>
            <a:r>
              <a:rPr lang="nl-NL" sz="1500" dirty="0"/>
              <a:t> (</a:t>
            </a:r>
            <a:r>
              <a:rPr lang="nl-NL" sz="1500" dirty="0" err="1"/>
              <a:t>wihtin</a:t>
            </a:r>
            <a:r>
              <a:rPr lang="nl-NL" sz="1500" dirty="0"/>
              <a:t> “”): 16%</a:t>
            </a:r>
          </a:p>
          <a:p>
            <a:pPr lvl="2">
              <a:lnSpc>
                <a:spcPct val="90000"/>
              </a:lnSpc>
            </a:pPr>
            <a:r>
              <a:rPr lang="nl-NL" sz="1500" dirty="0" err="1"/>
              <a:t>Reasoning</a:t>
            </a:r>
            <a:r>
              <a:rPr lang="nl-NL" sz="1500" dirty="0"/>
              <a:t>: 19%</a:t>
            </a:r>
          </a:p>
          <a:p>
            <a:pPr lvl="2">
              <a:lnSpc>
                <a:spcPct val="90000"/>
              </a:lnSpc>
            </a:pPr>
            <a:endParaRPr lang="nl-NL" sz="1500" dirty="0"/>
          </a:p>
          <a:p>
            <a:pPr>
              <a:lnSpc>
                <a:spcPct val="90000"/>
              </a:lnSpc>
            </a:pPr>
            <a:r>
              <a:rPr lang="nl-NL" sz="1500" dirty="0"/>
              <a:t>Large model: GPT OSS 120B </a:t>
            </a:r>
          </a:p>
          <a:p>
            <a:pPr lvl="1">
              <a:lnSpc>
                <a:spcPct val="90000"/>
              </a:lnSpc>
            </a:pPr>
            <a:r>
              <a:rPr lang="nl-NL" sz="1500" dirty="0"/>
              <a:t>No </a:t>
            </a:r>
            <a:r>
              <a:rPr lang="nl-NL" sz="1500" dirty="0" err="1"/>
              <a:t>additions</a:t>
            </a:r>
            <a:r>
              <a:rPr lang="nl-NL" sz="1500" dirty="0"/>
              <a:t>: 65%</a:t>
            </a:r>
          </a:p>
          <a:p>
            <a:pPr lvl="1">
              <a:lnSpc>
                <a:spcPct val="90000"/>
              </a:lnSpc>
            </a:pPr>
            <a:r>
              <a:rPr lang="nl-NL" sz="1500" dirty="0" err="1"/>
              <a:t>Including</a:t>
            </a:r>
            <a:r>
              <a:rPr lang="nl-NL" sz="1500" dirty="0"/>
              <a:t> </a:t>
            </a:r>
            <a:r>
              <a:rPr lang="nl-NL" sz="1500" dirty="0" err="1"/>
              <a:t>synonyms</a:t>
            </a:r>
            <a:r>
              <a:rPr lang="nl-NL" sz="1500" dirty="0"/>
              <a:t>: 57% (eerste versie)</a:t>
            </a:r>
          </a:p>
        </p:txBody>
      </p:sp>
    </p:spTree>
    <p:extLst>
      <p:ext uri="{BB962C8B-B14F-4D97-AF65-F5344CB8AC3E}">
        <p14:creationId xmlns:p14="http://schemas.microsoft.com/office/powerpoint/2010/main" val="2602896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333A2-8FBA-A3B1-EB4E-96248EF5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C58E59-67F2-72F7-4500-3239057C7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CD18F-8AB4-2935-9EFA-67042E010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r"/>
            <a:r>
              <a:rPr lang="nl-NL" dirty="0" err="1"/>
              <a:t>Final</a:t>
            </a:r>
            <a:r>
              <a:rPr lang="nl-NL" dirty="0"/>
              <a:t> solution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791595-2059-9CE0-5C89-4A8CD821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3F5D-F8CF-DC00-8213-46DF1AE87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9"/>
            <a:ext cx="6288260" cy="4892040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tx1"/>
                </a:solidFill>
              </a:rPr>
              <a:t>We </a:t>
            </a:r>
            <a:r>
              <a:rPr lang="nl-NL" dirty="0" err="1">
                <a:solidFill>
                  <a:schemeClr val="tx1"/>
                </a:solidFill>
              </a:rPr>
              <a:t>used</a:t>
            </a:r>
            <a:r>
              <a:rPr lang="nl-NL" dirty="0">
                <a:solidFill>
                  <a:schemeClr val="tx1"/>
                </a:solidFill>
              </a:rPr>
              <a:t> a </a:t>
            </a:r>
            <a:r>
              <a:rPr lang="nl-NL" dirty="0" err="1">
                <a:solidFill>
                  <a:schemeClr val="tx1"/>
                </a:solidFill>
              </a:rPr>
              <a:t>threshold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for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the</a:t>
            </a:r>
            <a:r>
              <a:rPr lang="nl-NL" dirty="0">
                <a:solidFill>
                  <a:schemeClr val="tx1"/>
                </a:solidFill>
              </a:rPr>
              <a:t> classes of 99%</a:t>
            </a:r>
          </a:p>
          <a:p>
            <a:r>
              <a:rPr lang="nl-NL" dirty="0" err="1">
                <a:solidFill>
                  <a:schemeClr val="tx1"/>
                </a:solidFill>
              </a:rPr>
              <a:t>Fallback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for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the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leftover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words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to</a:t>
            </a:r>
            <a:r>
              <a:rPr lang="nl-NL" dirty="0">
                <a:solidFill>
                  <a:schemeClr val="tx1"/>
                </a:solidFill>
              </a:rPr>
              <a:t> LLM</a:t>
            </a:r>
          </a:p>
          <a:p>
            <a:pPr marL="0" indent="0">
              <a:buNone/>
            </a:pP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39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D760-9003-C43E-03D2-2CE458C0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075CA8-C44B-645F-0876-A6FCDE24B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2" y="687124"/>
            <a:ext cx="4808962" cy="3882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0917EA-6686-0F27-E53A-DDF2DB9E2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49" y="4972010"/>
            <a:ext cx="11235902" cy="91447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5B79A3E-BFF2-FF0F-CC07-1919DBD0F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E0EF33-BAF6-680A-8EC8-9E4240421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494" y="1684808"/>
            <a:ext cx="8498561" cy="13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03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02477-A5C2-13F7-AF05-518F7569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6FED8EC-BE41-B6C4-D048-005DE846E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666" y="252412"/>
            <a:ext cx="5278022" cy="635317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F45B73-2A6B-B0D6-7C59-C5AFA30B8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C87F3C-85F5-CD55-88B4-860156CB0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21" y="615098"/>
            <a:ext cx="4858933" cy="49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3232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102</TotalTime>
  <Words>230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Slice</vt:lpstr>
      <vt:lpstr>Surferboys Hackathon</vt:lpstr>
      <vt:lpstr>Regex-analyse</vt:lpstr>
      <vt:lpstr>Textvectorizer</vt:lpstr>
      <vt:lpstr>Hybridstep</vt:lpstr>
      <vt:lpstr>Neural model changes</vt:lpstr>
      <vt:lpstr>Large language model</vt:lpstr>
      <vt:lpstr>Final solution</vt:lpstr>
      <vt:lpstr>PowerPoint Presentation</vt:lpstr>
      <vt:lpstr>PowerPoint Presentation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Stekelenburg</dc:creator>
  <cp:lastModifiedBy>Ruben Stekelenburg</cp:lastModifiedBy>
  <cp:revision>2</cp:revision>
  <dcterms:created xsi:type="dcterms:W3CDTF">2025-12-01T15:21:43Z</dcterms:created>
  <dcterms:modified xsi:type="dcterms:W3CDTF">2025-12-03T18:57:59Z</dcterms:modified>
</cp:coreProperties>
</file>